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E1AF3-108B-4E8D-ADA3-1253941F1147}" v="11" dt="2026-07-10T19:03:30.050"/>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84"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okuriLahari/IBM_GRANITE_CHEFAI"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47318701"/>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POKURI LAHARI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2420030552cse@gmail.com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8978263679</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Domain of  Project – </a:t>
            </a:r>
            <a:r>
              <a:rPr lang="en-IN" sz="2400" b="1" dirty="0">
                <a:highlight>
                  <a:srgbClr val="FFFF00"/>
                </a:highlight>
              </a:rPr>
              <a:t>Artificial Intelligence (AI) / Generative AI</a:t>
            </a:r>
            <a:endParaRPr lang="en-IN" sz="2400" dirty="0">
              <a:highlight>
                <a:srgbClr val="FFFF00"/>
              </a:highlight>
            </a:endParaRPr>
          </a:p>
          <a:p>
            <a:pPr marL="0" marR="0" lvl="0" indent="0" algn="l" rtl="0">
              <a:lnSpc>
                <a:spcPct val="100000"/>
              </a:lnSpc>
              <a:spcBef>
                <a:spcPts val="0"/>
              </a:spcBef>
              <a:spcAft>
                <a:spcPts val="0"/>
              </a:spcAft>
              <a:buNone/>
            </a:pP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US" sz="2400" b="1" dirty="0">
                <a:highlight>
                  <a:srgbClr val="FFFF00"/>
                </a:highlight>
              </a:rPr>
              <a:t>Recipe Preparation Agent</a:t>
            </a:r>
            <a:r>
              <a:rPr lang="en-US" sz="2400" dirty="0">
                <a:highlight>
                  <a:srgbClr val="FFFF00"/>
                </a:highlight>
              </a:rPr>
              <a:t> </a:t>
            </a:r>
          </a:p>
          <a:p>
            <a:pPr marL="0" marR="0" lvl="0" indent="0" algn="l" rtl="0">
              <a:lnSpc>
                <a:spcPct val="100000"/>
              </a:lnSpc>
              <a:spcBef>
                <a:spcPts val="0"/>
              </a:spcBef>
              <a:spcAft>
                <a:spcPts val="0"/>
              </a:spcAft>
              <a:buNone/>
            </a:pPr>
            <a:r>
              <a:rPr lang="en-US" sz="2400" b="1" dirty="0">
                <a:highlight>
                  <a:srgbClr val="FFFF00"/>
                </a:highlight>
              </a:rPr>
              <a:t> </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95A6B3FA-4BD2-03B1-8FCB-096609653D9D}"/>
              </a:ext>
            </a:extLst>
          </p:cNvPr>
          <p:cNvPicPr>
            <a:picLocks noChangeAspect="1"/>
          </p:cNvPicPr>
          <p:nvPr/>
        </p:nvPicPr>
        <p:blipFill>
          <a:blip r:embed="rId3"/>
          <a:stretch>
            <a:fillRect/>
          </a:stretch>
        </p:blipFill>
        <p:spPr>
          <a:xfrm>
            <a:off x="3965028" y="3605104"/>
            <a:ext cx="1182414" cy="10794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0475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 Recipe Preparation Agent</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Many people want to cook but are unsure what they can make with the groceries already in their kitchen, running into </a:t>
            </a:r>
            <a:r>
              <a:rPr lang="en-US" sz="1400" b="1" i="0" u="none" strike="noStrike" cap="none" dirty="0">
                <a:solidFill>
                  <a:srgbClr val="000000"/>
                </a:solidFill>
                <a:latin typeface="Arial"/>
                <a:ea typeface="Arial"/>
                <a:cs typeface="Arial"/>
                <a:sym typeface="Arial"/>
              </a:rPr>
              <a:t>ingredient limitations, food waste, and time constraints</a:t>
            </a:r>
            <a:r>
              <a:rPr lang="en-US" sz="1400" b="0" i="0" u="none" strike="noStrike" cap="none" dirty="0">
                <a:solidFill>
                  <a:srgbClr val="000000"/>
                </a:solidFill>
                <a:latin typeface="Arial"/>
                <a:ea typeface="Arial"/>
                <a:cs typeface="Arial"/>
                <a:sym typeface="Arial"/>
              </a:rPr>
              <a:t>. Recipe ideas are often scattered across unreliable sources and rarely account for what is actually available at home. Without </a:t>
            </a:r>
            <a:r>
              <a:rPr lang="en-US" sz="1400" b="1" i="0" u="none" strike="noStrike" cap="none" dirty="0">
                <a:solidFill>
                  <a:srgbClr val="000000"/>
                </a:solidFill>
                <a:latin typeface="Arial"/>
                <a:ea typeface="Arial"/>
                <a:cs typeface="Arial"/>
                <a:sym typeface="Arial"/>
              </a:rPr>
              <a:t>a smart, RAG-based recipe recommendation system</a:t>
            </a:r>
            <a:r>
              <a:rPr lang="en-US" sz="1400" b="0" i="0" u="none" strike="noStrike" cap="none" dirty="0">
                <a:solidFill>
                  <a:srgbClr val="000000"/>
                </a:solidFill>
                <a:latin typeface="Arial"/>
                <a:ea typeface="Arial"/>
                <a:cs typeface="Arial"/>
                <a:sym typeface="Arial"/>
              </a:rPr>
              <a:t>, many end up wasting food, ordering takeout, or struggling to turn pantry items into a practical, satisfying meal.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Build an </a:t>
            </a:r>
            <a:r>
              <a:rPr lang="en-US" sz="1400" b="1" i="0" u="none" strike="noStrike" cap="none" dirty="0">
                <a:solidFill>
                  <a:srgbClr val="000000"/>
                </a:solidFill>
                <a:latin typeface="Arial"/>
                <a:ea typeface="Arial"/>
                <a:cs typeface="Arial"/>
                <a:sym typeface="Arial"/>
              </a:rPr>
              <a:t>AI-powered Recipe Preparation Agent</a:t>
            </a:r>
            <a:r>
              <a:rPr lang="en-US" sz="1400" b="0" i="0" u="none" strike="noStrike" cap="none" dirty="0">
                <a:solidFill>
                  <a:srgbClr val="000000"/>
                </a:solidFill>
                <a:latin typeface="Arial"/>
                <a:ea typeface="Arial"/>
                <a:cs typeface="Arial"/>
                <a:sym typeface="Arial"/>
              </a:rPr>
              <a:t> that helps users cook meals using only the ingredients they have on hand. The solution should provide </a:t>
            </a:r>
            <a:r>
              <a:rPr lang="en-US" sz="1400" b="1" i="0" u="none" strike="noStrike" cap="none" dirty="0">
                <a:solidFill>
                  <a:srgbClr val="000000"/>
                </a:solidFill>
                <a:latin typeface="Arial"/>
                <a:ea typeface="Arial"/>
                <a:cs typeface="Arial"/>
                <a:sym typeface="Arial"/>
              </a:rPr>
              <a:t>tailored recipe suggestions using a RAG-based AI system</a:t>
            </a:r>
            <a:r>
              <a:rPr lang="en-US" sz="1400" b="0" i="0" u="none" strike="noStrike" cap="none" dirty="0">
                <a:solidFill>
                  <a:srgbClr val="000000"/>
                </a:solidFill>
                <a:latin typeface="Arial"/>
                <a:ea typeface="Arial"/>
                <a:cs typeface="Arial"/>
                <a:sym typeface="Arial"/>
              </a:rPr>
              <a:t> that retrieves relevant recipes and generates step-by-step instructions adapted to ingredient limitations. The solution should: </a:t>
            </a:r>
            <a:endParaRPr dirty="0"/>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Ingredient-Based Recipe Suggestions</a:t>
            </a:r>
            <a:r>
              <a:rPr lang="en-US" sz="1400" b="0" i="0" u="none" strike="noStrike" cap="none" dirty="0">
                <a:solidFill>
                  <a:srgbClr val="000000"/>
                </a:solidFill>
                <a:latin typeface="Arial"/>
                <a:ea typeface="Arial"/>
                <a:cs typeface="Arial"/>
                <a:sym typeface="Arial"/>
              </a:rPr>
              <a:t> – Retrieve relevant recipes tailored to the groceries a user already has, using a RAG-based AI system. </a:t>
            </a:r>
            <a:endParaRPr dirty="0"/>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Step-by-Step Adaptive Instructions</a:t>
            </a:r>
            <a:r>
              <a:rPr lang="en-US" sz="1400" b="0" i="0" u="none" strike="noStrike" cap="none" dirty="0">
                <a:solidFill>
                  <a:srgbClr val="000000"/>
                </a:solidFill>
                <a:latin typeface="Arial"/>
                <a:ea typeface="Arial"/>
                <a:cs typeface="Arial"/>
                <a:sym typeface="Arial"/>
              </a:rPr>
              <a:t> – Generate step-by-step cooking instructions adapted to the user’s ingredient limitations. </a:t>
            </a:r>
            <a:endParaRPr dirty="0"/>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Smart Substitutions &amp; Tips</a:t>
            </a:r>
            <a:r>
              <a:rPr lang="en-US" sz="1400" b="0" i="0" u="none" strike="noStrike" cap="none" dirty="0">
                <a:solidFill>
                  <a:srgbClr val="000000"/>
                </a:solidFill>
                <a:latin typeface="Arial"/>
                <a:ea typeface="Arial"/>
                <a:cs typeface="Arial"/>
                <a:sym typeface="Arial"/>
              </a:rPr>
              <a:t> – Offer substitutions, cooking tips, and dietary adjustments based on user preferences or restrictions. </a:t>
            </a:r>
            <a:endParaRPr dirty="0"/>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Food Waste Reduction</a:t>
            </a:r>
            <a:r>
              <a:rPr lang="en-US" sz="1400" b="0" i="0" u="none" strike="noStrike" cap="none" dirty="0">
                <a:solidFill>
                  <a:srgbClr val="000000"/>
                </a:solidFill>
                <a:latin typeface="Arial"/>
                <a:ea typeface="Arial"/>
                <a:cs typeface="Arial"/>
                <a:sym typeface="Arial"/>
              </a:rPr>
              <a:t> – Reduce food waste and save time by turning pantry items into practical meal solutions. </a:t>
            </a:r>
            <a:endParaRPr dirty="0"/>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dirty="0">
                <a:solidFill>
                  <a:srgbClr val="000000"/>
                </a:solidFill>
                <a:latin typeface="Arial"/>
                <a:ea typeface="Arial"/>
                <a:cs typeface="Arial"/>
                <a:sym typeface="Arial"/>
              </a:rPr>
              <a:t>Smarter, Simpler Cooking</a:t>
            </a:r>
            <a:r>
              <a:rPr lang="en-US" sz="1400" b="0" i="0" u="none" strike="noStrike" cap="none" dirty="0">
                <a:solidFill>
                  <a:srgbClr val="000000"/>
                </a:solidFill>
                <a:latin typeface="Arial"/>
                <a:ea typeface="Arial"/>
                <a:cs typeface="Arial"/>
                <a:sym typeface="Arial"/>
              </a:rPr>
              <a:t> – Make everyday cooking smarter, simpler, and more sustainable.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363237" y="677022"/>
            <a:ext cx="10607040" cy="6124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Proposed Solution: AI-Powered Recipe Preparation Agent</a:t>
            </a:r>
          </a:p>
          <a:p>
            <a:pPr marL="0" marR="0" lvl="0" indent="0" algn="l" rtl="0">
              <a:lnSpc>
                <a:spcPct val="100000"/>
              </a:lnSpc>
              <a:spcBef>
                <a:spcPts val="0"/>
              </a:spcBef>
              <a:spcAft>
                <a:spcPts val="0"/>
              </a:spcAft>
              <a:buNone/>
            </a:pPr>
            <a:endParaRPr dirty="0"/>
          </a:p>
          <a:p>
            <a:pPr lvl="0"/>
            <a:r>
              <a:rPr lang="en-IN" dirty="0"/>
              <a:t>The proposed solution is an </a:t>
            </a:r>
            <a:r>
              <a:rPr lang="en-IN" b="1" dirty="0"/>
              <a:t>AI-powered recipe recommendation engine</a:t>
            </a:r>
            <a:r>
              <a:rPr lang="en-IN" dirty="0"/>
              <a:t> built with </a:t>
            </a:r>
            <a:r>
              <a:rPr lang="en-IN" b="1" dirty="0"/>
              <a:t>Flask, </a:t>
            </a:r>
            <a:r>
              <a:rPr lang="en-IN" b="1" dirty="0" err="1"/>
              <a:t>ChromaDB</a:t>
            </a:r>
            <a:r>
              <a:rPr lang="en-IN" b="1" dirty="0"/>
              <a:t>, </a:t>
            </a:r>
            <a:r>
              <a:rPr lang="en-IN" b="1" dirty="0" err="1"/>
              <a:t>SentenceTransformers</a:t>
            </a:r>
            <a:r>
              <a:rPr lang="en-IN" b="1" dirty="0"/>
              <a:t>, and IBM Granite (via watsonx.ai)</a:t>
            </a:r>
            <a:r>
              <a:rPr lang="en-IN" dirty="0"/>
              <a:t> to help users turn any set of ingredients into a restaurant-quality recipe in seconds. The system addresses two common cooking pain points — </a:t>
            </a:r>
            <a:r>
              <a:rPr lang="en-IN" b="1" dirty="0"/>
              <a:t>ingredient waste</a:t>
            </a:r>
            <a:r>
              <a:rPr lang="en-IN" dirty="0"/>
              <a:t> and </a:t>
            </a:r>
            <a:r>
              <a:rPr lang="en-IN" b="1" dirty="0"/>
              <a:t>decision fatigue</a:t>
            </a:r>
            <a:r>
              <a:rPr lang="en-IN" dirty="0"/>
              <a:t> — through a grounded, retrieval-first architecture.</a:t>
            </a:r>
          </a:p>
          <a:p>
            <a:pPr lvl="0"/>
            <a:endParaRPr lang="en-IN" dirty="0"/>
          </a:p>
          <a:p>
            <a:r>
              <a:rPr lang="en-IN" dirty="0"/>
              <a:t>At its core, the solution uses a </a:t>
            </a:r>
            <a:r>
              <a:rPr lang="en-IN" b="1" dirty="0"/>
              <a:t>Retrieval-Augmented Generation (RAG) pipeline</a:t>
            </a:r>
            <a:r>
              <a:rPr lang="en-IN" dirty="0"/>
              <a:t>: user ingredients are converted into a semantic query, embedded using the all-MiniLM-L6-v2 model, and matched against a curated dataset of </a:t>
            </a:r>
            <a:r>
              <a:rPr lang="en-IN" b="1" dirty="0"/>
              <a:t>~4,998 recipes</a:t>
            </a:r>
            <a:r>
              <a:rPr lang="en-IN" dirty="0"/>
              <a:t> stored in </a:t>
            </a:r>
            <a:r>
              <a:rPr lang="en-IN" b="1" dirty="0" err="1"/>
              <a:t>ChromaDB</a:t>
            </a:r>
            <a:r>
              <a:rPr lang="en-IN" dirty="0"/>
              <a:t> using cosine similarity. The top-K retrieved recipes are hydrated with full recipe data and passed as grounded context to the </a:t>
            </a:r>
            <a:r>
              <a:rPr lang="en-IN" b="1" dirty="0"/>
              <a:t>IBM Granite</a:t>
            </a:r>
            <a:r>
              <a:rPr lang="en-IN" dirty="0"/>
              <a:t> model (</a:t>
            </a:r>
            <a:r>
              <a:rPr lang="en-IN" dirty="0" err="1"/>
              <a:t>ibm</a:t>
            </a:r>
            <a:r>
              <a:rPr lang="en-IN" dirty="0"/>
              <a:t>/granite-8b-code-instruct) on watsonx.ai, which generates the final personalized response — eliminating hallucinated ingredients or steps that a pure-LLM approach would risk.</a:t>
            </a:r>
            <a:br>
              <a:rPr lang="en-IN" dirty="0"/>
            </a:br>
            <a:br>
              <a:rPr lang="en-IN" dirty="0"/>
            </a:br>
            <a:r>
              <a:rPr lang="en-IN" dirty="0"/>
              <a:t>The system is organized into four cooperating modules rather than separate agents:</a:t>
            </a:r>
          </a:p>
          <a:p>
            <a:r>
              <a:rPr lang="en-IN" b="1" dirty="0"/>
              <a:t>vector_store.py</a:t>
            </a:r>
            <a:r>
              <a:rPr lang="en-IN" dirty="0"/>
              <a:t> — semantic search layer; embeds and retrieves recipes from </a:t>
            </a:r>
            <a:r>
              <a:rPr lang="en-IN" dirty="0" err="1"/>
              <a:t>ChromaDB</a:t>
            </a:r>
            <a:r>
              <a:rPr lang="en-IN" dirty="0"/>
              <a:t>.</a:t>
            </a:r>
          </a:p>
          <a:p>
            <a:r>
              <a:rPr lang="en-IN" b="1" dirty="0"/>
              <a:t>rag.py</a:t>
            </a:r>
            <a:r>
              <a:rPr lang="en-IN" dirty="0"/>
              <a:t> — orchestrates retrieval → context hydration → prompt construction → generation.</a:t>
            </a:r>
          </a:p>
          <a:p>
            <a:r>
              <a:rPr lang="en-IN" b="1" dirty="0"/>
              <a:t>granite.py</a:t>
            </a:r>
            <a:r>
              <a:rPr lang="en-IN" dirty="0"/>
              <a:t> — handles IBM Cloud IAM authentication and Granite/watsonx.ai inference calls.</a:t>
            </a:r>
          </a:p>
          <a:p>
            <a:r>
              <a:rPr lang="en-IN" b="1" dirty="0"/>
              <a:t>recipe_loader.py</a:t>
            </a:r>
            <a:r>
              <a:rPr lang="en-IN" dirty="0"/>
              <a:t> — loads, normalizes, and filters the underlying recipe dataset.</a:t>
            </a:r>
          </a:p>
          <a:p>
            <a:pPr lvl="0"/>
            <a:endParaRPr lang="en-US" sz="1400" b="0" i="0" u="none" strike="noStrike" cap="none" dirty="0">
              <a:solidFill>
                <a:srgbClr val="000000"/>
              </a:solidFill>
              <a:latin typeface="Arial"/>
              <a:ea typeface="Arial"/>
              <a:cs typeface="Arial"/>
              <a:sym typeface="Arial"/>
            </a:endParaRPr>
          </a:p>
          <a:p>
            <a:pPr lvl="0"/>
            <a:r>
              <a:rPr lang="en-IN" dirty="0"/>
              <a:t>The solution includes a </a:t>
            </a:r>
            <a:r>
              <a:rPr lang="en-IN" b="1" dirty="0"/>
              <a:t>responsive, mobile-first dashboard</a:t>
            </a:r>
            <a:r>
              <a:rPr lang="en-IN" dirty="0"/>
              <a:t> (Bootstrap 5.3, dark/light mode) that surfaces suggested recipes, substitutions, cuisine and dietary filters (Indian, Chinese, Italian, Mexican, vegetarian, vegan, gluten-free, etc.), an auto-generated </a:t>
            </a:r>
            <a:r>
              <a:rPr lang="en-IN" b="1" dirty="0"/>
              <a:t>shopping list</a:t>
            </a:r>
            <a:r>
              <a:rPr lang="en-IN" dirty="0"/>
              <a:t> for missing ingredients, session-persisted </a:t>
            </a:r>
            <a:r>
              <a:rPr lang="en-IN" b="1" dirty="0" err="1"/>
              <a:t>favorites</a:t>
            </a:r>
            <a:r>
              <a:rPr lang="en-IN" dirty="0"/>
              <a:t>, and </a:t>
            </a:r>
            <a:r>
              <a:rPr lang="en-IN" b="1" dirty="0"/>
              <a:t>query history</a:t>
            </a:r>
            <a:r>
              <a:rPr lang="en-IN" dirty="0"/>
              <a:t>.</a:t>
            </a:r>
          </a:p>
          <a:p>
            <a:pPr lvl="0"/>
            <a:br>
              <a:rPr lang="en-IN" dirty="0"/>
            </a:br>
            <a:r>
              <a:rPr lang="en-IN" dirty="0"/>
              <a:t>Overall, this solution delivers an </a:t>
            </a:r>
            <a:r>
              <a:rPr lang="en-IN" b="1" dirty="0"/>
              <a:t>end-to-end, retrieval-grounded recipe assistant</a:t>
            </a:r>
            <a:r>
              <a:rPr lang="en-IN" dirty="0"/>
              <a:t> that pairs the precision of vector search with the fluency of a generative model — giving users accurate, low-hallucination, personalized cooking guidance while promoting sustainable, low-waste cooking.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363237" y="215357"/>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ibm-granite-3-2-8b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It provides the infrastructure to build, deploy, and scale the Recipe Preparation Agent efficiently. IBM Cloud enables a </a:t>
            </a:r>
            <a:r>
              <a:rPr lang="en-US" sz="1800" b="1" i="0" u="none" strike="noStrike" cap="none" dirty="0">
                <a:solidFill>
                  <a:srgbClr val="000000"/>
                </a:solidFill>
                <a:latin typeface="Arial"/>
                <a:ea typeface="Arial"/>
                <a:cs typeface="Arial"/>
                <a:sym typeface="Arial"/>
              </a:rPr>
              <a:t>reliable, secure, and scalable environment</a:t>
            </a:r>
            <a:r>
              <a:rPr lang="en-US" sz="1800" b="0" i="0" u="none" strike="noStrike" cap="none" dirty="0">
                <a:solidFill>
                  <a:srgbClr val="000000"/>
                </a:solidFill>
                <a:latin typeface="Arial"/>
                <a:ea typeface="Arial"/>
                <a:cs typeface="Arial"/>
                <a:sym typeface="Arial"/>
              </a:rPr>
              <a:t> for deploying the Recipe Preparation Agent.</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RAG– </a:t>
            </a:r>
            <a:r>
              <a:rPr lang="en-US" sz="1800" b="0" i="0" u="none" strike="noStrike" cap="none" dirty="0">
                <a:solidFill>
                  <a:srgbClr val="000000"/>
                </a:solidFill>
                <a:latin typeface="Arial"/>
                <a:ea typeface="Arial"/>
                <a:cs typeface="Arial"/>
                <a:sym typeface="Arial"/>
              </a:rPr>
              <a:t>RAG to </a:t>
            </a:r>
            <a:r>
              <a:rPr lang="en-US" sz="1800" b="1" i="0" u="none" strike="noStrike" cap="none" dirty="0">
                <a:solidFill>
                  <a:srgbClr val="000000"/>
                </a:solidFill>
                <a:latin typeface="Arial"/>
                <a:ea typeface="Arial"/>
                <a:cs typeface="Arial"/>
                <a:sym typeface="Arial"/>
              </a:rPr>
              <a:t>fetch real data first, then generate intelligent answers</a:t>
            </a:r>
            <a:r>
              <a:rPr lang="en-US" sz="1800" b="0" i="0" u="none" strike="noStrike" cap="none" dirty="0">
                <a:solidFill>
                  <a:srgbClr val="000000"/>
                </a:solidFill>
                <a:latin typeface="Arial"/>
                <a:ea typeface="Arial"/>
                <a:cs typeface="Arial"/>
                <a:sym typeface="Arial"/>
              </a:rPr>
              <a:t>, making the Recipe Preparation Agent more trustworthy and effective.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US" sz="18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Vector Database </a:t>
            </a:r>
            <a:r>
              <a:rPr lang="en-US" sz="1800" b="0" i="0" u="none" strike="noStrike" cap="none" dirty="0">
                <a:solidFill>
                  <a:srgbClr val="000000"/>
                </a:solidFill>
                <a:latin typeface="Arial"/>
                <a:ea typeface="Arial"/>
                <a:cs typeface="Arial"/>
                <a:sym typeface="Arial"/>
              </a:rPr>
              <a:t>(FAISS/Chroma) – For RAG-based recipe and ingredient retrieval</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 ingredients they have on hand, along with any preferences or restrictions (text/voice/image).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retrieve relevant recipes and generate personalized cooking recommendations.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b="0" i="0" u="none" strike="noStrike" cap="none" dirty="0">
                <a:solidFill>
                  <a:srgbClr val="000000"/>
                </a:solidFill>
                <a:latin typeface="Arial"/>
                <a:ea typeface="Arial"/>
                <a:cs typeface="Arial"/>
                <a:sym typeface="Arial"/>
              </a:rPr>
              <a:t>Granite-4.0-8B-Instruct → Fast, efficient for real-time recipe recommendations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such as recipe suggestions, step-by-step instructions, and substitution tips.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highlight>
                <a:srgbClr val="FFFF00"/>
              </a:highlight>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File component - </a:t>
            </a:r>
            <a:r>
              <a:rPr lang="en-US" sz="1400" b="0" i="0" u="none" strike="noStrike" cap="none" dirty="0">
                <a:solidFill>
                  <a:srgbClr val="000000"/>
                </a:solidFill>
                <a:latin typeface="Arial"/>
                <a:ea typeface="Arial"/>
                <a:cs typeface="Arial"/>
                <a:sym typeface="Arial"/>
              </a:rPr>
              <a:t>Stores and retrieves user ingredient inputs, recipe data, and past preferences for analysis and tracking.</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workflow –</a:t>
            </a:r>
          </a:p>
          <a:p>
            <a:pPr marL="0" marR="0" lvl="0" indent="0" algn="l" rtl="0">
              <a:lnSpc>
                <a:spcPct val="100000"/>
              </a:lnSpc>
              <a:spcBef>
                <a:spcPts val="0"/>
              </a:spcBef>
              <a:spcAft>
                <a:spcPts val="0"/>
              </a:spcAft>
              <a:buClr>
                <a:srgbClr val="051D3A"/>
              </a:buClr>
              <a:buSzPts val="3500"/>
              <a:buFont typeface="Times New Roman"/>
              <a:buNone/>
            </a:pP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38CD9F6-22F7-ABA1-42C5-C97D254A2675}"/>
              </a:ext>
            </a:extLst>
          </p:cNvPr>
          <p:cNvPicPr>
            <a:picLocks noChangeAspect="1"/>
          </p:cNvPicPr>
          <p:nvPr/>
        </p:nvPicPr>
        <p:blipFill>
          <a:blip r:embed="rId3"/>
          <a:stretch>
            <a:fillRect/>
          </a:stretch>
        </p:blipFill>
        <p:spPr>
          <a:xfrm>
            <a:off x="356183" y="1016124"/>
            <a:ext cx="11633493" cy="55186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6" name="Picture 5">
            <a:extLst>
              <a:ext uri="{FF2B5EF4-FFF2-40B4-BE49-F238E27FC236}">
                <a16:creationId xmlns:a16="http://schemas.microsoft.com/office/drawing/2014/main" id="{920F8EA6-36B0-533C-5B45-24FDD7837A7A}"/>
              </a:ext>
            </a:extLst>
          </p:cNvPr>
          <p:cNvPicPr>
            <a:picLocks noChangeAspect="1"/>
          </p:cNvPicPr>
          <p:nvPr/>
        </p:nvPicPr>
        <p:blipFill>
          <a:blip r:embed="rId3"/>
          <a:stretch>
            <a:fillRect/>
          </a:stretch>
        </p:blipFill>
        <p:spPr>
          <a:xfrm>
            <a:off x="1749213" y="1213945"/>
            <a:ext cx="9073815" cy="53208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Role of Agentic AI in Recipe Preparation Agent</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Agentic AI</a:t>
            </a:r>
            <a:r>
              <a:rPr lang="en-US" sz="1400" b="0" i="0" u="none" strike="noStrike" cap="none">
                <a:solidFill>
                  <a:srgbClr val="000000"/>
                </a:solidFill>
                <a:latin typeface="Arial"/>
                <a:ea typeface="Arial"/>
                <a:cs typeface="Arial"/>
                <a:sym typeface="Arial"/>
              </a:rPr>
              <a:t> enables the Recipe Preparation Agent to function as an intelligent, autonomous system rather than a simple chatbot. Using </a:t>
            </a:r>
            <a:r>
              <a:rPr lang="en-US" sz="1400" b="1" i="0" u="none" strike="noStrike" cap="none">
                <a:solidFill>
                  <a:srgbClr val="000000"/>
                </a:solidFill>
                <a:latin typeface="Arial"/>
                <a:ea typeface="Arial"/>
                <a:cs typeface="Arial"/>
                <a:sym typeface="Arial"/>
              </a:rPr>
              <a:t>IBM watsonx.ai</a:t>
            </a:r>
            <a:r>
              <a:rPr lang="en-US" sz="1400" b="0" i="0" u="none" strike="noStrike" cap="none">
                <a:solidFill>
                  <a:srgbClr val="000000"/>
                </a:solidFill>
                <a:latin typeface="Arial"/>
                <a:ea typeface="Arial"/>
                <a:cs typeface="Arial"/>
                <a:sym typeface="Arial"/>
              </a:rPr>
              <a:t> and </a:t>
            </a:r>
            <a:r>
              <a:rPr lang="en-US" sz="1400" b="1" i="0" u="none" strike="noStrike" cap="none">
                <a:solidFill>
                  <a:srgbClr val="000000"/>
                </a:solidFill>
                <a:latin typeface="Arial"/>
                <a:ea typeface="Arial"/>
                <a:cs typeface="Arial"/>
                <a:sym typeface="Arial"/>
              </a:rPr>
              <a:t>IBM Granite models</a:t>
            </a:r>
            <a:r>
              <a:rPr lang="en-US" sz="1400" b="0" i="0" u="none" strike="noStrike" cap="none">
                <a:solidFill>
                  <a:srgbClr val="000000"/>
                </a:solidFill>
                <a:latin typeface="Arial"/>
                <a:ea typeface="Arial"/>
                <a:cs typeface="Arial"/>
                <a:sym typeface="Arial"/>
              </a:rPr>
              <a:t>, it coordinates multiple specialized agents to deliver tailored recipe guidance.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Each agent performs a specific role—such as retrieving relevant recipes, generating step-by-step instructions, suggesting substitutions, and tracking food waste—while working collaboratively. This </a:t>
            </a:r>
            <a:r>
              <a:rPr lang="en-US" sz="1400" b="1" i="0" u="none" strike="noStrike" cap="none">
                <a:solidFill>
                  <a:srgbClr val="000000"/>
                </a:solidFill>
                <a:latin typeface="Arial"/>
                <a:ea typeface="Arial"/>
                <a:cs typeface="Arial"/>
                <a:sym typeface="Arial"/>
              </a:rPr>
              <a:t>multi-agent approach</a:t>
            </a:r>
            <a:r>
              <a:rPr lang="en-US" sz="1400" b="0" i="0" u="none" strike="noStrike" cap="none">
                <a:solidFill>
                  <a:srgbClr val="000000"/>
                </a:solidFill>
                <a:latin typeface="Arial"/>
                <a:ea typeface="Arial"/>
                <a:cs typeface="Arial"/>
                <a:sym typeface="Arial"/>
              </a:rPr>
              <a:t> ensures efficient task execution and accurate results.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Agentic AI also brings </a:t>
            </a:r>
            <a:r>
              <a:rPr lang="en-US" sz="1400" b="1" i="0" u="none" strike="noStrike" cap="none">
                <a:solidFill>
                  <a:srgbClr val="000000"/>
                </a:solidFill>
                <a:latin typeface="Arial"/>
                <a:ea typeface="Arial"/>
                <a:cs typeface="Arial"/>
                <a:sym typeface="Arial"/>
              </a:rPr>
              <a:t>context awareness</a:t>
            </a:r>
            <a:r>
              <a:rPr lang="en-US" sz="1400" b="0" i="0" u="none" strike="noStrike" cap="none">
                <a:solidFill>
                  <a:srgbClr val="000000"/>
                </a:solidFill>
                <a:latin typeface="Arial"/>
                <a:ea typeface="Arial"/>
                <a:cs typeface="Arial"/>
                <a:sym typeface="Arial"/>
              </a:rPr>
              <a:t>, understanding the ingredients a user has on hand and their dietary preferences to generate tailored recipe suggestions. It supports </a:t>
            </a:r>
            <a:r>
              <a:rPr lang="en-US" sz="1400" b="1" i="0" u="none" strike="noStrike" cap="none">
                <a:solidFill>
                  <a:srgbClr val="000000"/>
                </a:solidFill>
                <a:latin typeface="Arial"/>
                <a:ea typeface="Arial"/>
                <a:cs typeface="Arial"/>
                <a:sym typeface="Arial"/>
              </a:rPr>
              <a:t>real-time adaptation</a:t>
            </a:r>
            <a:r>
              <a:rPr lang="en-US" sz="1400" b="0" i="0" u="none" strike="noStrike" cap="none">
                <a:solidFill>
                  <a:srgbClr val="000000"/>
                </a:solidFill>
                <a:latin typeface="Arial"/>
                <a:ea typeface="Arial"/>
                <a:cs typeface="Arial"/>
                <a:sym typeface="Arial"/>
              </a:rPr>
              <a:t>, continuously updating recipe suggestions based on the user’s available ingredients.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Additionally, agents communicate with each other, enabling better decision-making and improved outcomes.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Agentic AI makes the system proactive, personalized, and goal-driven, acting like a </a:t>
            </a:r>
            <a:r>
              <a:rPr lang="en-US" sz="1400" b="1" i="0" u="none" strike="noStrike" cap="none">
                <a:solidFill>
                  <a:srgbClr val="000000"/>
                </a:solidFill>
                <a:latin typeface="Arial"/>
                <a:ea typeface="Arial"/>
                <a:cs typeface="Arial"/>
                <a:sym typeface="Arial"/>
              </a:rPr>
              <a:t>smart digital cooking assistant</a:t>
            </a:r>
            <a:r>
              <a:rPr lang="en-US" sz="1400" b="0" i="0" u="none" strike="noStrike" cap="none">
                <a:solidFill>
                  <a:srgbClr val="000000"/>
                </a:solidFill>
                <a:latin typeface="Arial"/>
                <a:ea typeface="Arial"/>
                <a:cs typeface="Arial"/>
                <a:sym typeface="Arial"/>
              </a:rPr>
              <a:t> that helps users cook practical, waste-reducing meals every day.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8,674</a:t>
            </a:r>
            <a:r>
              <a:rPr lang="en-US" sz="1400" b="0" i="0" u="none" strike="noStrike" cap="none" dirty="0">
                <a:solidFill>
                  <a:srgbClr val="000000"/>
                </a:solidFill>
                <a:latin typeface="Arial"/>
                <a:ea typeface="Arial"/>
                <a:cs typeface="Arial"/>
                <a:sym typeface="Arial"/>
              </a:rPr>
              <a:t> token are used</a:t>
            </a:r>
            <a:endParaRPr dirty="0"/>
          </a:p>
        </p:txBody>
      </p:sp>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pic>
        <p:nvPicPr>
          <p:cNvPr id="3" name="Picture 2">
            <a:extLst>
              <a:ext uri="{FF2B5EF4-FFF2-40B4-BE49-F238E27FC236}">
                <a16:creationId xmlns:a16="http://schemas.microsoft.com/office/drawing/2014/main" id="{70BE3886-028A-D4A4-ED06-85D7229869C9}"/>
              </a:ext>
            </a:extLst>
          </p:cNvPr>
          <p:cNvPicPr>
            <a:picLocks noChangeAspect="1"/>
          </p:cNvPicPr>
          <p:nvPr/>
        </p:nvPicPr>
        <p:blipFill>
          <a:blip r:embed="rId3"/>
          <a:stretch>
            <a:fillRect/>
          </a:stretch>
        </p:blipFill>
        <p:spPr>
          <a:xfrm>
            <a:off x="1153263" y="1494385"/>
            <a:ext cx="9760098" cy="51505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2937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The proposed Recipe Preparation Agent stands out by combining </a:t>
            </a:r>
            <a:r>
              <a:rPr lang="en-US" sz="1800" b="1" i="0" u="none" strike="noStrike" cap="none">
                <a:solidFill>
                  <a:srgbClr val="000000"/>
                </a:solidFill>
                <a:latin typeface="Arial"/>
                <a:ea typeface="Arial"/>
                <a:cs typeface="Arial"/>
                <a:sym typeface="Arial"/>
              </a:rPr>
              <a:t>Agentic AI, RAG, and personalization</a:t>
            </a:r>
            <a:r>
              <a:rPr lang="en-US" sz="1800" b="0" i="0" u="none" strike="noStrike" cap="none">
                <a:solidFill>
                  <a:srgbClr val="000000"/>
                </a:solidFill>
                <a:latin typeface="Arial"/>
                <a:ea typeface="Arial"/>
                <a:cs typeface="Arial"/>
                <a:sym typeface="Arial"/>
              </a:rPr>
              <a:t> into a single intelligent system.</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Multi-Agent Intelligence</a:t>
            </a:r>
            <a:r>
              <a:rPr lang="en-US" sz="1800" b="0" i="0" u="none" strike="noStrike" cap="none">
                <a:solidFill>
                  <a:srgbClr val="000000"/>
                </a:solidFill>
                <a:latin typeface="Arial"/>
                <a:ea typeface="Arial"/>
                <a:cs typeface="Arial"/>
                <a:sym typeface="Arial"/>
              </a:rPr>
              <a:t> – Instead of a single chatbot, multiple specialized agents collaborate to deliver accurate and context-aware recipe guidance.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RAG-Based Accuracy</a:t>
            </a:r>
            <a:r>
              <a:rPr lang="en-US" sz="1800" b="0" i="0" u="none" strike="noStrike" cap="none">
                <a:solidFill>
                  <a:srgbClr val="000000"/>
                </a:solidFill>
                <a:latin typeface="Arial"/>
                <a:ea typeface="Arial"/>
                <a:cs typeface="Arial"/>
                <a:sym typeface="Arial"/>
              </a:rPr>
              <a:t> – Integrates real-time recipe retrieval with AI generation, reducing irrelevant suggestions and ensuring practical, usable recipes.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Hyper-Personalization</a:t>
            </a:r>
            <a:r>
              <a:rPr lang="en-US" sz="1800" b="0" i="0" u="none" strike="noStrike" cap="none">
                <a:solidFill>
                  <a:srgbClr val="000000"/>
                </a:solidFill>
                <a:latin typeface="Arial"/>
                <a:ea typeface="Arial"/>
                <a:cs typeface="Arial"/>
                <a:sym typeface="Arial"/>
              </a:rPr>
              <a:t> – Tailors recipe suggestions based on the ingredients on hand, dietary restrictions, and cooking preferences.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Real-Time Feedback Loop</a:t>
            </a:r>
            <a:r>
              <a:rPr lang="en-US" sz="1800" b="0" i="0" u="none" strike="noStrike" cap="none">
                <a:solidFill>
                  <a:srgbClr val="000000"/>
                </a:solidFill>
                <a:latin typeface="Arial"/>
                <a:ea typeface="Arial"/>
                <a:cs typeface="Arial"/>
                <a:sym typeface="Arial"/>
              </a:rPr>
              <a:t> – Continuously adapts suggestions based on the user’s available groceries and preferences.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Multi-Modal Input</a:t>
            </a:r>
            <a:r>
              <a:rPr lang="en-US" sz="1800" b="0" i="0" u="none" strike="noStrike" cap="none">
                <a:solidFill>
                  <a:srgbClr val="000000"/>
                </a:solidFill>
                <a:latin typeface="Arial"/>
                <a:ea typeface="Arial"/>
                <a:cs typeface="Arial"/>
                <a:sym typeface="Arial"/>
              </a:rPr>
              <a:t> – Supports text, voice, and image-based ingredient entry for better usability.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Food Waste Reduction Focus</a:t>
            </a:r>
            <a:r>
              <a:rPr lang="en-US" sz="1800" b="0" i="0" u="none" strike="noStrike" cap="none">
                <a:solidFill>
                  <a:srgbClr val="000000"/>
                </a:solidFill>
                <a:latin typeface="Arial"/>
                <a:ea typeface="Arial"/>
                <a:cs typeface="Arial"/>
                <a:sym typeface="Arial"/>
              </a:rPr>
              <a:t> – Goes beyond recipe suggestions to actively help reduce food waste and save time.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Scalable &amp; Enterprise-Ready</a:t>
            </a:r>
            <a:r>
              <a:rPr lang="en-US" sz="1800" b="0" i="0" u="none" strike="noStrike" cap="none">
                <a:solidFill>
                  <a:srgbClr val="000000"/>
                </a:solidFill>
                <a:latin typeface="Arial"/>
                <a:ea typeface="Arial"/>
                <a:cs typeface="Arial"/>
                <a:sym typeface="Arial"/>
              </a:rPr>
              <a:t> – Built on </a:t>
            </a:r>
            <a:r>
              <a:rPr lang="en-US" sz="1800" b="1" i="0" u="none" strike="noStrike" cap="none">
                <a:solidFill>
                  <a:srgbClr val="000000"/>
                </a:solidFill>
                <a:latin typeface="Arial"/>
                <a:ea typeface="Arial"/>
                <a:cs typeface="Arial"/>
                <a:sym typeface="Arial"/>
              </a:rPr>
              <a:t>IBM watsonx.ai</a:t>
            </a:r>
            <a:r>
              <a:rPr lang="en-US" sz="1800" b="0" i="0" u="none" strike="noStrike" cap="none">
                <a:solidFill>
                  <a:srgbClr val="000000"/>
                </a:solidFill>
                <a:latin typeface="Arial"/>
                <a:ea typeface="Arial"/>
                <a:cs typeface="Arial"/>
                <a:sym typeface="Arial"/>
              </a:rPr>
              <a:t> with </a:t>
            </a:r>
            <a:r>
              <a:rPr lang="en-US" sz="1800" b="1" i="0" u="none" strike="noStrike" cap="none">
                <a:solidFill>
                  <a:srgbClr val="000000"/>
                </a:solidFill>
                <a:latin typeface="Arial"/>
                <a:ea typeface="Arial"/>
                <a:cs typeface="Arial"/>
                <a:sym typeface="Arial"/>
              </a:rPr>
              <a:t>IBM Granite models</a:t>
            </a:r>
            <a:r>
              <a:rPr lang="en-US" sz="1800" b="0" i="0" u="none" strike="noStrike" cap="none">
                <a:solidFill>
                  <a:srgbClr val="000000"/>
                </a:solidFill>
                <a:latin typeface="Arial"/>
                <a:ea typeface="Arial"/>
                <a:cs typeface="Arial"/>
                <a:sym typeface="Arial"/>
              </a:rPr>
              <a:t>, ensuring reliability and governance.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This makes the solution a </a:t>
            </a:r>
            <a:r>
              <a:rPr lang="en-US" sz="1800" b="1" i="0" u="none" strike="noStrike" cap="none">
                <a:solidFill>
                  <a:srgbClr val="000000"/>
                </a:solidFill>
                <a:latin typeface="Arial"/>
                <a:ea typeface="Arial"/>
                <a:cs typeface="Arial"/>
                <a:sym typeface="Arial"/>
              </a:rPr>
              <a:t>smart, adaptive, and proactive digital cooking assistant</a:t>
            </a:r>
            <a:r>
              <a:rPr lang="en-US" sz="1800" b="0" i="0" u="none" strike="noStrike" cap="none">
                <a:solidFill>
                  <a:srgbClr val="000000"/>
                </a:solidFill>
                <a:latin typeface="Arial"/>
                <a:ea typeface="Arial"/>
                <a:cs typeface="Arial"/>
                <a:sym typeface="Arial"/>
              </a:rPr>
              <a:t>, not just a static recipe lookup tool.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47151"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https://github.com/PokuriLahari/IBM_GRANITE_CHEFAI</a:t>
            </a:r>
            <a:endParaRPr lang="en-IN" sz="1850" dirty="0">
              <a:latin typeface="Times New Roman"/>
              <a:ea typeface="Times New Roman"/>
              <a:cs typeface="Times New Roman"/>
              <a:sym typeface="Times New Roman"/>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B6D8BDA-6447-69B3-DC6C-FDBD8E7ACA89}"/>
              </a:ext>
            </a:extLst>
          </p:cNvPr>
          <p:cNvPicPr>
            <a:picLocks noChangeAspect="1"/>
          </p:cNvPicPr>
          <p:nvPr/>
        </p:nvPicPr>
        <p:blipFill>
          <a:blip r:embed="rId4"/>
          <a:stretch>
            <a:fillRect/>
          </a:stretch>
        </p:blipFill>
        <p:spPr>
          <a:xfrm>
            <a:off x="6324599" y="2635113"/>
            <a:ext cx="5310352" cy="2623286"/>
          </a:xfrm>
          <a:prstGeom prst="rect">
            <a:avLst/>
          </a:prstGeom>
        </p:spPr>
      </p:pic>
      <p:pic>
        <p:nvPicPr>
          <p:cNvPr id="11" name="Picture 10">
            <a:extLst>
              <a:ext uri="{FF2B5EF4-FFF2-40B4-BE49-F238E27FC236}">
                <a16:creationId xmlns:a16="http://schemas.microsoft.com/office/drawing/2014/main" id="{FF91A255-69CA-BB3E-5CA0-019AE97F41D2}"/>
              </a:ext>
            </a:extLst>
          </p:cNvPr>
          <p:cNvPicPr>
            <a:picLocks noChangeAspect="1"/>
          </p:cNvPicPr>
          <p:nvPr/>
        </p:nvPicPr>
        <p:blipFill>
          <a:blip r:embed="rId5"/>
          <a:stretch>
            <a:fillRect/>
          </a:stretch>
        </p:blipFill>
        <p:spPr>
          <a:xfrm>
            <a:off x="667390" y="2597399"/>
            <a:ext cx="5428610" cy="26987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1.Smart Kitchen &amp; Inventory Integration –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 fridges and pantry inventory apps to automatically detect available ingredients and expiry dates. This will enable the Recipe Preparation Agent to provide more accurate, real-time recipe suggestions and proactively flag ingredients that need to be used soon to reduce food waste.</a:t>
            </a:r>
            <a:endParaRPr/>
          </a:p>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2.AI-Powered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while cooking hands-free,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3" name="Picture 2">
            <a:extLst>
              <a:ext uri="{FF2B5EF4-FFF2-40B4-BE49-F238E27FC236}">
                <a16:creationId xmlns:a16="http://schemas.microsoft.com/office/drawing/2014/main" id="{71613814-20CE-CDF0-3B83-7BD72E16355E}"/>
              </a:ext>
            </a:extLst>
          </p:cNvPr>
          <p:cNvPicPr>
            <a:picLocks noChangeAspect="1"/>
          </p:cNvPicPr>
          <p:nvPr/>
        </p:nvPicPr>
        <p:blipFill>
          <a:blip r:embed="rId3"/>
          <a:stretch>
            <a:fillRect/>
          </a:stretch>
        </p:blipFill>
        <p:spPr>
          <a:xfrm>
            <a:off x="2332474" y="1766294"/>
            <a:ext cx="6653871" cy="39245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A8F073F6-8478-E6B4-C785-15B1CC623071}"/>
              </a:ext>
            </a:extLst>
          </p:cNvPr>
          <p:cNvPicPr>
            <a:picLocks noChangeAspect="1"/>
          </p:cNvPicPr>
          <p:nvPr/>
        </p:nvPicPr>
        <p:blipFill>
          <a:blip r:embed="rId3"/>
          <a:stretch>
            <a:fillRect/>
          </a:stretch>
        </p:blipFill>
        <p:spPr>
          <a:xfrm>
            <a:off x="2658679" y="1477578"/>
            <a:ext cx="6551689" cy="41307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844</TotalTime>
  <Words>1426</Words>
  <Application>Microsoft Office PowerPoint</Application>
  <PresentationFormat>Widescreen</PresentationFormat>
  <Paragraphs>120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lahari pokuri</cp:lastModifiedBy>
  <cp:revision>4</cp:revision>
  <dcterms:created xsi:type="dcterms:W3CDTF">2025-07-08T05:06:56Z</dcterms:created>
  <dcterms:modified xsi:type="dcterms:W3CDTF">2026-07-10T19:07:17Z</dcterms:modified>
</cp:coreProperties>
</file>